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3cc5a4169746bb" /><Relationship Type="http://schemas.openxmlformats.org/officeDocument/2006/relationships/extended-properties" Target="/docProps/app.xml" Id="R2fe24a60d2af47e0" /><Relationship Type="http://schemas.openxmlformats.org/officeDocument/2006/relationships/officeDocument" Target="/ppt/presentation.xml" Id="Rae1f85fe25f94c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e8bfc7e03940e7"/>
  </p:sldMasterIdLst>
  <p:notesMasterIdLst>
    <p:notesMasterId xmlns:r="http://schemas.openxmlformats.org/officeDocument/2006/relationships" r:id="R75f7026004ac4294"/>
  </p:notesMasterIdLst>
  <p:sldIdLst>
    <p:sldId xmlns:r="http://schemas.openxmlformats.org/officeDocument/2006/relationships" id="256" r:id="R2bf2c5611ade4d64"/>
    <p:sldId xmlns:r="http://schemas.openxmlformats.org/officeDocument/2006/relationships" id="257" r:id="R5858e6c8d4bc433b"/>
    <p:sldId xmlns:r="http://schemas.openxmlformats.org/officeDocument/2006/relationships" id="258" r:id="R7c6fd156f0fd407d"/>
    <p:sldId xmlns:r="http://schemas.openxmlformats.org/officeDocument/2006/relationships" id="259" r:id="R9ed18bfdbe9b4068"/>
    <p:sldId xmlns:r="http://schemas.openxmlformats.org/officeDocument/2006/relationships" id="260" r:id="R7dd9535feabe4be2"/>
    <p:sldId xmlns:r="http://schemas.openxmlformats.org/officeDocument/2006/relationships" id="261" r:id="R7060d84802774342"/>
    <p:sldId xmlns:r="http://schemas.openxmlformats.org/officeDocument/2006/relationships" id="262" r:id="R65ac1c61ad174c61"/>
    <p:sldId xmlns:r="http://schemas.openxmlformats.org/officeDocument/2006/relationships" id="263" r:id="R2fd5ee2efe8445ea"/>
    <p:sldId xmlns:r="http://schemas.openxmlformats.org/officeDocument/2006/relationships" id="264" r:id="R02841dd015564b20"/>
    <p:sldId xmlns:r="http://schemas.openxmlformats.org/officeDocument/2006/relationships" id="265" r:id="Rda1ee9b581034f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25f057c7ef4f12" /><Relationship Type="http://schemas.openxmlformats.org/officeDocument/2006/relationships/slideMaster" Target="/ppt/slideMasters/slideMaster1.xml" Id="Rbce8bfc7e03940e7" /><Relationship Type="http://schemas.openxmlformats.org/officeDocument/2006/relationships/notesMaster" Target="/ppt/notesMasters/notesMaster1.xml" Id="R75f7026004ac4294" /><Relationship Type="http://schemas.openxmlformats.org/officeDocument/2006/relationships/presProps" Target="/ppt/presProps.xml" Id="Ra497f4f5687f4dcf" /><Relationship Type="http://schemas.openxmlformats.org/officeDocument/2006/relationships/tableStyles" Target="/ppt/tableStyles.xml" Id="Rf84c71b79e864c69" /><Relationship Type="http://schemas.openxmlformats.org/officeDocument/2006/relationships/slide" Target="/ppt/slides/slide1.xml" Id="R2bf2c5611ade4d64" /><Relationship Type="http://schemas.openxmlformats.org/officeDocument/2006/relationships/slide" Target="/ppt/slides/slide2.xml" Id="R5858e6c8d4bc433b" /><Relationship Type="http://schemas.openxmlformats.org/officeDocument/2006/relationships/slide" Target="/ppt/slides/slide3.xml" Id="R7c6fd156f0fd407d" /><Relationship Type="http://schemas.openxmlformats.org/officeDocument/2006/relationships/slide" Target="/ppt/slides/slide4.xml" Id="R9ed18bfdbe9b4068" /><Relationship Type="http://schemas.openxmlformats.org/officeDocument/2006/relationships/slide" Target="/ppt/slides/slide5.xml" Id="R7dd9535feabe4be2" /><Relationship Type="http://schemas.openxmlformats.org/officeDocument/2006/relationships/slide" Target="/ppt/slides/slide6.xml" Id="R7060d84802774342" /><Relationship Type="http://schemas.openxmlformats.org/officeDocument/2006/relationships/slide" Target="/ppt/slides/slide7.xml" Id="R65ac1c61ad174c61" /><Relationship Type="http://schemas.openxmlformats.org/officeDocument/2006/relationships/slide" Target="/ppt/slides/slide8.xml" Id="R2fd5ee2efe8445ea" /><Relationship Type="http://schemas.openxmlformats.org/officeDocument/2006/relationships/slide" Target="/ppt/slides/slide9.xml" Id="R02841dd015564b20" /><Relationship Type="http://schemas.openxmlformats.org/officeDocument/2006/relationships/slide" Target="/ppt/slides/slide10.xml" Id="Rda1ee9b581034f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5020a2564542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f399b478a42eb" /><Relationship Type="http://schemas.openxmlformats.org/officeDocument/2006/relationships/notesMaster" Target="/ppt/notesMasters/notesMaster1.xml" Id="R00e221b9118540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44b4829bc8472e" /><Relationship Type="http://schemas.openxmlformats.org/officeDocument/2006/relationships/notesMaster" Target="/ppt/notesMasters/notesMaster1.xml" Id="R258fe476ca4146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0d59f263e3467a" /><Relationship Type="http://schemas.openxmlformats.org/officeDocument/2006/relationships/notesMaster" Target="/ppt/notesMasters/notesMaster1.xml" Id="Ra1d8691cbb5645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fddff078e94d1e" /><Relationship Type="http://schemas.openxmlformats.org/officeDocument/2006/relationships/notesMaster" Target="/ppt/notesMasters/notesMaster1.xml" Id="R832b3d74272241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4dc5d32ea1498a" /><Relationship Type="http://schemas.openxmlformats.org/officeDocument/2006/relationships/notesMaster" Target="/ppt/notesMasters/notesMaster1.xml" Id="Re307048a84f548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487bcedf5c4ded" /><Relationship Type="http://schemas.openxmlformats.org/officeDocument/2006/relationships/notesMaster" Target="/ppt/notesMasters/notesMaster1.xml" Id="R5f5aa2d5f3e043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4bed15558e4520" /><Relationship Type="http://schemas.openxmlformats.org/officeDocument/2006/relationships/notesMaster" Target="/ppt/notesMasters/notesMaster1.xml" Id="R4e5938f139564f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3c7dc90c104e33" /><Relationship Type="http://schemas.openxmlformats.org/officeDocument/2006/relationships/notesMaster" Target="/ppt/notesMasters/notesMaster1.xml" Id="R56535f6be30842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feb4bf86e5470c" /><Relationship Type="http://schemas.openxmlformats.org/officeDocument/2006/relationships/notesMaster" Target="/ppt/notesMasters/notesMaster1.xml" Id="Rb658bf40994844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6a2e8728434119" /><Relationship Type="http://schemas.openxmlformats.org/officeDocument/2006/relationships/notesMaster" Target="/ppt/notesMasters/notesMaster1.xml" Id="R98f7a05ec6cb4c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课程展示封面。右图为 CUB-200-2011 留出集样例，仅作演示。数据源：Wah et al., 2011。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数据：CUB-200-2011，Wah et al. 2011；AVONET，Tobias et al. 2022，CC BY 4.0。项目记录验证计数为 11,788 图、200 类、5,994/5,794 官方划分。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算法均由 OpenCV/Scikit-image 基础算子实现。CUB 官方目标框仅在最终 IoU 评价阶段读取，不输入分割器。结果取自 results/metrics.json。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实现模块：dataset.py、processing.py、features.py、modeling.py、ecology.py、analysis.py 和 gui.py。稳定输出对象为 AnalysisResult。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生态数据源：Tobias et al., 2022, AVONET v7 / BirdTree 表，CC BY 4.0。映射表保存在 resources/cub_to_scientific.csv；生态性状输出需解释为物种级平均值。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所有数值直接读取 results/metrics.json 和 results/ablation_results.csv。不要将传统特征分类性能与深度模型混同；该项目重点是传统 DIP 的可解释流程与量化评价。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方法与参数来源：src/regression.py；标签来源：Tobias et al. 2022 AVONET。模型为500树、max_leaf_nodes=256、min_samples_leaf=2、max_features=1.0，SEED=2026。组外模型只用于诊断，不参与部署或调参。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值来源：results/regression_metrics.json、regression_metrics.csv、regression_group_metrics.csv、regression_ablation_results.csv。MAE/RMSE均按原单位。基线是训练标签均值。官方测试同鸟种，分组OOF仅用官方训练图像。此处优于基线指七项RMSE均较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界面基于 PySide6，含数据集浏览与检索、单图评价、批量导出、统计与模型结果、程序说明五个页面。截图为实际运行截图，预测不等于图片真实标签，体现了低置信度提示设计。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运行环境、恢复原始数据和提交内容详见 README.md、docs/程序说明.md 与 提交说明.md。AVONET 采用 CC BY 4.0，代码不发布到外部账号。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58af637b044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004649d2d04e6d" /><Relationship Type="http://schemas.openxmlformats.org/officeDocument/2006/relationships/slideLayout" Target="/ppt/slideLayouts/slideLayout1.xml" Id="R83ac57bcf1804b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ac57bcf1804b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6fe15523949bc" /><Relationship Type="http://schemas.openxmlformats.org/officeDocument/2006/relationships/image" Target="/ppt/media/image.jpeg" Id="R275a534bff324364" /><Relationship Type="http://schemas.openxmlformats.org/officeDocument/2006/relationships/notesSlide" Target="/ppt/notesSlides/notesSlide1.xml" Id="Ra2d6c369a4e04d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7bf66cc194f0b" /><Relationship Type="http://schemas.openxmlformats.org/officeDocument/2006/relationships/notesSlide" Target="/ppt/notesSlides/notesSlide2.xml" Id="R807e620d9d8a4b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f0dcf187845f8" /><Relationship Type="http://schemas.openxmlformats.org/officeDocument/2006/relationships/notesSlide" Target="/ppt/notesSlides/notesSlide3.xml" Id="Ra29459abf01546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e65b4f14f4981" /><Relationship Type="http://schemas.openxmlformats.org/officeDocument/2006/relationships/notesSlide" Target="/ppt/notesSlides/notesSlide4.xml" Id="R2d29900e59cb49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5cce7fca64bb8" /><Relationship Type="http://schemas.openxmlformats.org/officeDocument/2006/relationships/notesSlide" Target="/ppt/notesSlides/notesSlide5.xml" Id="R9c7c57bad04747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ed959b59c4d06" /><Relationship Type="http://schemas.openxmlformats.org/officeDocument/2006/relationships/notesSlide" Target="/ppt/notesSlides/notesSlide6.xml" Id="R592cca161dee4e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92b30acd749da" /><Relationship Type="http://schemas.openxmlformats.org/officeDocument/2006/relationships/notesSlide" Target="/ppt/notesSlides/notesSlide7.xml" Id="Ra0b528a6415648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fbd1b5f0b455e" /><Relationship Type="http://schemas.openxmlformats.org/officeDocument/2006/relationships/notesSlide" Target="/ppt/notesSlides/notesSlide8.xml" Id="R8f75ec2d99794b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6fe45a32449f0" /><Relationship Type="http://schemas.openxmlformats.org/officeDocument/2006/relationships/image" Target="/ppt/media/image.png" Id="R6c518e1916c84b5f" /><Relationship Type="http://schemas.openxmlformats.org/officeDocument/2006/relationships/notesSlide" Target="/ppt/notesSlides/notesSlide9.xml" Id="R406a17cedcec4d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036fa981f4dc8" /><Relationship Type="http://schemas.openxmlformats.org/officeDocument/2006/relationships/notesSlide" Target="/ppt/notesSlides/notesSlide10.xml" Id="Rf144adaad7294f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A1D31-A427-43D7-BCFF-FF778D4A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49681-9F8F-42E8-84D3-D95DB43E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73BD1-FDBF-411F-936E-0DDCB0DC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a534bff324364"/>
          <a:srcRect xmlns:a="http://schemas.openxmlformats.org/drawingml/2006/main" l="19351" t="0" r="193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933450"/>
            <a:ext cx="4095750" cy="4476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06133-92D4-4752-BC36-DD16C7E2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"/>
            <a:ext cx="762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58858-005A-4C08-8390-EB1D4EB7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3C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3C8C8"/>
                </a:solidFill>
                <a:latin typeface="Microsoft YaHei"/>
                <a:ea typeface="Microsoft YaHei"/>
                <a:cs typeface="Microsoft YaHei"/>
              </a:rPr>
              <a:t>数字图像处理综合实践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6DA45-7B53-4FE4-A5F8-3DE1DA93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鸟类生态图像</a:t>
            </a:r>
          </a:p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特征工程与</a:t>
            </a:r>
          </a:p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轻量级量化评价系统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38717-398B-4475-99F8-F70832B8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D7E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D7E7EA"/>
                </a:solidFill>
                <a:latin typeface="Microsoft YaHei"/>
                <a:ea typeface="Microsoft YaHei"/>
                <a:cs typeface="Microsoft YaHei"/>
              </a:rPr>
              <a:t>Python · OpenCV · PySide6 · ExtraTrees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DDF5B-A493-49D1-A778-5157ADCC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 CUB-200-2011（11,788 图 / 200 类）</a:t>
            </a:r>
          </a:p>
          <a:p xmlns:a="http://schemas.openxmlformats.org/drawingml/2006/main">
            <a:pPr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固定随机种子：2026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61049-49FF-4CA0-A8FA-ACF5552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D7E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D7E7EA"/>
                </a:solidFill>
                <a:latin typeface="Microsoft YaHei"/>
                <a:ea typeface="Microsoft YaHei"/>
                <a:cs typeface="Microsoft YaHei"/>
              </a:rPr>
              <a:t>姓名：何宗业    学号：19230218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DCFE8-98E1-4703-B64E-610E744A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真实运行结果 · 不使用 SAM / YOLOv8</a:t>
            </a:r>
          </a:p>
        </p:txBody>
      </p:sp>
    </p:spTree>
    <p:extLst>
      <p:ext uri="{BB962C8B-B14F-4D97-AF65-F5344CB8AC3E}">
        <p14:creationId xmlns:p14="http://schemas.microsoft.com/office/powerpoint/2010/main" val="1415807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B7337-8A39-42D8-A684-02CD3F6C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EE2EB-49E7-419E-8471-AEAC5FF3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01 · 数据与实验协议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679AD-4A56-4A67-803F-45E5D617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完整数据，不改变官方训练/测试划分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0FEBA-27B9-483C-8F89-23377E29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所有 11,788 张图像进入数据准备与特征提取流程；目标框只用于分割事后评价。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581025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36750"/>
                <a:gridCol w="1936750"/>
                <a:gridCol w="1936750"/>
              </a:tblGrid>
              <a:tr h="428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 / 状态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 图像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11,788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全量建索引、提取特征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鸟种类别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细粒度分类输出范围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官方训练集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5,994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拟合 ExtraTrees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官方测试集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5,794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完整测试与报告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随机种子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划分、模型与可视化复现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243F0-4089-4C00-878F-F8A57992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28800"/>
            <a:ext cx="4572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08923-F813-4B8D-93E6-3DB519C9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57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生态数据连接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5534C-D82C-4839-8023-FDBC2A22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288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CUB 200 类 → 学名交叉表 → AVONET BirdTree</a:t>
            </a:r>
          </a:p>
          <a:p xmlns:a="http://schemas.openxmlformats.org/drawingml/2006/main">
            <a:pPr>
              <a:buNone/>
              <a:def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输出形态、食性、栖息地、生活方式与分布范围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2805D-1D2B-4298-92C7-DE1569A8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4572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9F62B-10DA-4DBD-ABA8-515E9F32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边界条件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CE32A-6387-434C-B098-B121187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00475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37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· 不使用 SAM、YOLOv8 或预训练大模型</a:t>
            </a:r>
          </a:p>
          <a:p xmlns:a="http://schemas.openxmlformats.org/drawingml/2006/main">
            <a:pPr>
              <a:buNone/>
              <a:def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· 不将 CUB 目标框作为分割器输入</a:t>
            </a:r>
          </a:p>
          <a:p xmlns:a="http://schemas.openxmlformats.org/drawingml/2006/main">
            <a:pPr>
              <a:buNone/>
              <a:def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· 本地上传图像只在 200 类范围内预测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E3179-71AB-4607-B30C-D5611391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数据源：CUB-200-2011；AVONET BirdTree（CC BY 4.0）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A263B1-DFAE-4C4E-B41D-48533D31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D8293-D6DD-4F60-B3B7-F1F258A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C73D4-E6FE-4473-B9CE-4BABD97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2 / 10 页</a:t>
            </a:r>
          </a:p>
        </p:txBody>
      </p:sp>
    </p:spTree>
    <p:extLst>
      <p:ext uri="{BB962C8B-B14F-4D97-AF65-F5344CB8AC3E}">
        <p14:creationId xmlns:p14="http://schemas.microsoft.com/office/powerpoint/2010/main" val="20843552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45FB27-A51E-4B64-A698-2FC4E662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75604-C97D-47DE-9DE9-3BC12AB6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02 · 数字图像处理流水线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5CD80-B89C-40B2-BC7D-3E282FBC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从像素到可解释特征：全部由传统 OpenCV 算子组成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36A1F-E1C5-4163-9D89-F969CBDE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先把分割质量作为可量化中间结果，再构造颜色、形状与纹理描述。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84E18-3B9F-4874-A767-F6F05D08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847850" cy="23336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E3A93-6A45-496D-9409-2ACB1867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847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5A7D1-C868-45B1-AB0D-DD3EF379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26447-43EC-4876-A305-0EB2A6C5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去噪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4786D-3161-427A-AAD4-72BAB129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81375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双边滤波 + 高斯滤波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F47E4-3674-4C60-8D30-EACF257C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05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27322-5FA2-45DA-BF2C-630C7588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1847850" cy="23336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C71FD-3C1C-4DB0-A267-B019312B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90750"/>
            <a:ext cx="1847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8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2D661-B0AE-4303-B7FD-82D5D7C8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955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10371-0D66-4671-8DE1-99CC752C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颜色与边缘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AD855-919C-4A89-B6DF-46FC054E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81375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Lab 背景色差 + HSV + Canny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96AFA-B86C-4BC0-B7D4-9F57BE79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6E4C6-5B4E-437C-811B-999E2D1A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1847850" cy="23336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50FF7-6ED8-44C0-9D20-D97B9D01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1847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17A81-10A3-4557-B055-B27ECB49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78967-7B9C-4FA0-AC62-CE1F133C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前景掩膜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749798-3108-4A84-9042-B43F9F99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81375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Otsu 阈值 + 形态学闭/开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7CB57-F20C-4F51-AA86-2F34DD50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B09C6-68C9-4ECF-8463-1AD633D2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847850" cy="23336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D8CE5-4154-4023-9DB0-A9E7C8C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1847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78AA30-835A-417F-963C-4D63C42E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7854F-A199-4336-956D-71567860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候选连通域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1E1AE5-2E6A-4E1A-8259-A25B418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81375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面积、中心距离、边界接触筛选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871A5-FE4C-48D2-92C8-EDC51CC6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6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2FB02C-01D2-4A91-A2E1-E49255A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1847850" cy="23336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964E03-E12C-4E23-934E-6574DCA2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90750"/>
            <a:ext cx="1847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8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967AC9-F48A-4D94-AC58-4A6F2AC5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955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A33634-21CC-410C-8D73-940F47BD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52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特征工程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2C053E-FCD2-4377-9AF3-443487BF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81375"/>
            <a:ext cx="142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颜色 / 形状 / GLCM / LBP / 分形 / 对称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730BEF-47CC-47A2-8D61-683AE5AB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8763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CD3F02-90E5-416B-82BD-DA932C65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分割评估：与 CUB 官方目标框对照，平均 IoU = 0.4572；IoU ≥ 0.5 的图像比例 = 40.54%。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EB4D4F-A45A-4BDF-84BE-16BE9923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A91C03-E775-4837-96A5-98EB9743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FB2596-73FF-4124-BB23-19577B69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3 / 10 页</a:t>
            </a:r>
          </a:p>
        </p:txBody>
      </p:sp>
    </p:spTree>
    <p:extLst>
      <p:ext uri="{BB962C8B-B14F-4D97-AF65-F5344CB8AC3E}">
        <p14:creationId xmlns:p14="http://schemas.microsoft.com/office/powerpoint/2010/main" val="1164204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45C576-4B2D-4F27-BD13-B2B5FBDB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AEFDF-A741-46E5-A763-57624B73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03 · 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9826E3-161A-4D6C-9EED-B67A99A6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一个可运行的中文桌面分析系统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3B55D-77A2-4D74-9B3A-C9E9FDC5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数据集浏览、单图分析、批量导出、统计结果与运行帮助在同一 PySide6 界面内完成。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81050-80DA-4C33-B20B-957DF193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09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EE899-6917-480C-95DD-B4465048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31E2C-F9AA-45F3-BE68-CC946039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输入层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BBE51-6474-4003-A469-498C8CF1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CUB 浏览 / 本地 JPG、PNG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BE269-3D59-4F81-AE16-37AAC63B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FA787-E72C-46B2-84D1-26F3382D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1809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B7FC9-6933-4DEF-8D8E-1A45C01E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8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5E9BC-F115-405E-976F-13A0D3D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rPr>
              <a:t>图像层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CA9E4-DC65-4C8B-AE52-0E77503C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337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OpenCV 分割</a:t>
            </a:r>
          </a:p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与 68 维特征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642F3-9A9C-4B8C-B6D1-233EA011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8FB62-C396-49C6-B6CC-3C7B83C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90750"/>
            <a:ext cx="1809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FD8A4-5D33-4FD0-93C4-F753A02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907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2AFA9-C4FC-4C7E-A2B8-3ADA527A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24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并行模型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0370-0A22-4314-AB29-ECC13071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分类与回归独立</a:t>
            </a:r>
          </a:p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各 500 棵树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1CCEE-B5DE-45A0-9655-CA487A53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59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1B7556-7A7E-4986-9E28-C9C23DD5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809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4C9F4-5224-4415-BDAD-5AF89A45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180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0D73-9FB7-49B1-8CAC-09181868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241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性状输出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E8548-6E5D-49D1-B7B1-46578BC0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图像直接回归值</a:t>
            </a:r>
          </a:p>
          <a:p xmlns:a="http://schemas.openxmlformats.org/drawingml/2006/main">
            <a:pPr algn="ctr">
              <a:buNone/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按鸟种查表参考值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A582D4-24EC-461A-BE9D-053F4DB4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610100"/>
            <a:ext cx="8324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AE2A5-96EF-429F-873B-4857D4B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053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AnalysisResult：分类结果、图像特征、直接回归值、查表参考值与提示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251A17-86BA-4269-AB7F-D8C49E9F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581650"/>
            <a:ext cx="805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批量 CSV 保存七项回归数值，metrics.json 记录分类与回归的独立评价。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9BA79-72BE-4476-A661-F6FE56C7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F123D0-C92B-4A69-BF30-AF8E3C53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118AD-C85F-448C-B429-A856DA19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4 / 10 页</a:t>
            </a:r>
          </a:p>
        </p:txBody>
      </p:sp>
    </p:spTree>
    <p:extLst>
      <p:ext uri="{BB962C8B-B14F-4D97-AF65-F5344CB8AC3E}">
        <p14:creationId xmlns:p14="http://schemas.microsoft.com/office/powerpoint/2010/main" val="123841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12DEF-BF03-4E5A-9AAA-3BA53C8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3DBE5-6FC0-45BD-9FFE-7F520FAA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04 · 特征与生态映射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9A817-09E3-4BE1-86C7-244D6C04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68 维视觉描述 + 可追溯的物种级生态指标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D1759-C4AE-4D0D-9241-1E93C2E6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68 维图像特征分别用于分类与直接回归。AVONET 提供物种均值监督标签和查表参考信息。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5810250" cy="2619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36750"/>
                <a:gridCol w="1936750"/>
                <a:gridCol w="1936750"/>
              </a:tblGrid>
              <a:tr h="4365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特征组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维数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颜色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HSV 直方图、Lab 均值/标准差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形状与质量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面积、外接框、Hu 矩、紧致度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GLCM 纹理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contrast / energy</a:t>
                      </a:r>
                    </a:p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 correlation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LBP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局部二值模式直方图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分形与对称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box / mirror / IoU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6877050" y="1809750"/>
          <a:ext xmlns:a="http://schemas.openxmlformats.org/drawingml/2006/main" cx="4552950" cy="2619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76475"/>
                <a:gridCol w="2276475"/>
              </a:tblGrid>
              <a:tr h="4365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AVONET 输出类别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示例字段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Mass、Wing.Length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喙部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Beak length / width / depth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肢体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Tarsus.Length、Tail.Length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生态位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Habitat / Trophic.Niche</a:t>
                      </a:r>
                    </a:p>
                  </a:txBody>
                  <a:tcPr marL="91440" marR="91440" marT="45720" marB="45720"/>
                </a:tc>
              </a:tr>
              <a:tr h="436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分布与生活方式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Range.Size、Primary.Lifestyle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5B332-0504-45A5-92F1-807CC797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97917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A352A-7057-4541-81B6-B551657C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48275"/>
            <a:ext cx="910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完整映射检查：CUB 200 类均已关联 AVONET 记录；旧分类名通过可审查的同义词交叉表处理。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F223E-3C70-4802-AD7C-722A47D4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4228D-479B-44BF-AEF6-8AE69C20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FD10D-6267-412F-B6D4-C80EA229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5 / 10 页</a:t>
            </a:r>
          </a:p>
        </p:txBody>
      </p:sp>
    </p:spTree>
    <p:extLst>
      <p:ext uri="{BB962C8B-B14F-4D97-AF65-F5344CB8AC3E}">
        <p14:creationId xmlns:p14="http://schemas.microsoft.com/office/powerpoint/2010/main" val="906832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EAD5B-E2C1-4710-884E-61C39CAD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3C80A-FFAD-4A1A-BA14-45A13FDD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05 · 完整测试集的真实结果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AC43D-4906-4BF6-B69A-23CCAA3F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基于 5,794 张官方测试图像的实际评估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75FC3-B4DD-45E1-B05A-795DA9F9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最终模型为 500 棵树的 ExtraTrees；为控制模型体积设置 max_leaf_nodes=256、min_samples_leaf=2。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E1B83-6E61-4E11-B284-D6D0D87F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288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Top-1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9211E-925C-4443-97AD-507F4ECC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47875"/>
            <a:ext cx="4762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7C525-813D-43E9-88E1-B8B3973D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47875"/>
            <a:ext cx="412433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C9008-7648-40AF-AC38-0912E183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977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8.66%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5303C-FDAD-456A-B6C3-15DD3D11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Top-5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884C3-1948-4D8D-B9B1-882F199E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14625"/>
            <a:ext cx="4762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54187-1FCF-4466-A186-86FAD5F6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14625"/>
            <a:ext cx="1163003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172A2-96C3-4825-A100-5E6A4722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765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24.42%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DEE4DD-FD9F-4C17-9A37-2027983E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2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Macro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E729B-4B59-40C1-AA36-8A0529CF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81375"/>
            <a:ext cx="4762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D52620-22E3-48E3-9153-4554E4C2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81375"/>
            <a:ext cx="336233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45B8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D5B19-9EB1-4FAD-ACC7-8AE7DBE9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4327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rPr>
              <a:t>0.0706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492F3-F4F2-4B6C-AC49-C923319E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分割 IoU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68638-BC7F-4CBF-967F-17EB28C8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48125"/>
            <a:ext cx="47625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EE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0D219C-5EE3-4F60-9CC8-35CADAF1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48125"/>
            <a:ext cx="217741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9B3BEE-9710-4A1F-9CD1-DA89794F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100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0.4572</a:t>
            </a:r>
          </a:p>
        </p:txBody>
      </p:sp>
      <p:graphicFrame>
        <p:nvGraphicFramePr>
          <p:cNvPr id="51" name=""/>
          <p:cNvGraphicFramePr/>
          <p:nvPr/>
        </p:nvGraphicFramePr>
        <p:xfrm>
          <a:off xmlns:a="http://schemas.openxmlformats.org/drawingml/2006/main" x="8286750" y="1885950"/>
          <a:ext xmlns:a="http://schemas.openxmlformats.org/drawingml/2006/main" cx="3143250" cy="2095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85813"/>
                <a:gridCol w="785813"/>
                <a:gridCol w="785813"/>
                <a:gridCol w="785813"/>
              </a:tblGrid>
              <a:tr h="5238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消融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维数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Top-1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颜色/形状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0.0490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增加纹理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0.0641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完整特征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0.0644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843D5-E040-49E6-807C-1902857C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3048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2F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8E4D8-3622-447B-9736-18BC15F2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28848F-F877-4FDA-99A8-24349C82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339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纹理特征明显提升传统方法的细粒度区分能力；完整模型使用 500 棵树获得最终结果。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6CFAD6-2D5A-42DB-8B3A-737C90CC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另：IoU ≥ 0.5 为 40.54%，平均分割质量为 0.6317。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FC1EC-CAB5-431C-B29C-5A474261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508310-0ECC-43A6-BF8A-DD5B732F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D5F9F-EF16-4490-BC35-29B8E6AD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6 / 10 页</a:t>
            </a:r>
          </a:p>
        </p:txBody>
      </p:sp>
    </p:spTree>
    <p:extLst>
      <p:ext uri="{BB962C8B-B14F-4D97-AF65-F5344CB8AC3E}">
        <p14:creationId xmlns:p14="http://schemas.microsoft.com/office/powerpoint/2010/main" val="16167801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945BB-881C-4CBF-9686-AAA38B8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06 · 图像与鸟类性状回归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09BAA-8099-4397-91F3-2CFB8322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图像特征直接回归七项形态性状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5A209-23C1-4761-9924-5E8B3637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68 维视觉输入，ExtraTrees 多输出回归，目标标准化仅由训练标签拟合。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7DF7A-B75F-4179-9D86-2A02D39B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监督标签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846FD-FF7A-4271-A309-3C4CFACF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图像真实类别关联 AVONET 物种均值。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预测体重、跗蹠长度、翅长、尾长和喙部三个尺寸。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D6638-04B9-4BB1-A60A-05878E69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独立预测路径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AEF34-B2B5-4A21-9CAD-4CF2C156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回归器只读取图像特征。类别编号、文件路径、分类结果和标注框 IoU 均不作为输入。</a:t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部署模型使用全部 5,994 张官方训练图像，输出还原为 g 或 mm。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8E70F-0440-462B-9BB5-345B138F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评估范围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83CC2-CA69-45F9-81A5-50D82298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官方测试集为 5,794 张新照片，包含训练中已有鸟种。</a:t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另在官方训练集内按鸟种做五折验证，每折的训练鸟种和验证鸟种互斥。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ACE68-A66E-448D-BC37-1AF289BF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7 / 10 页</a:t>
            </a:r>
          </a:p>
        </p:txBody>
      </p:sp>
    </p:spTree>
    <p:extLst>
      <p:ext uri="{BB962C8B-B14F-4D97-AF65-F5344CB8AC3E}">
        <p14:creationId xmlns:p14="http://schemas.microsoft.com/office/powerpoint/2010/main" val="8152890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CCFAD-2B98-4617-B082-F0C0A568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07 · 回归实验结果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8B602-FC15-4380-BCB5-01B851F8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七项回归均优于训练均值基线，但预测精度有限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08D19-AF2C-42C0-B51D-AB760273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官方测试平均 R² = 0.1652，训练集内留鸟种五折平均 R² = 0.1085。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21481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性状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MAE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R²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 RMSE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留鸟种 R²</a:t>
                      </a:r>
                    </a:p>
                  </a:txBody>
                  <a:tcPr marL="91440" marR="91440" marT="45720" marB="45720">
                    <a:solidFill>
                      <a:srgbClr val="245B88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体重_g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327.51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732.20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773.23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0.0541</a:t>
                      </a:r>
                    </a:p>
                  </a:txBody>
                  <a:tcPr marL="91440" marR="91440" marT="45720" marB="45720"/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跗蹠长度_mm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0.1915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0.1466</a:t>
                      </a:r>
                    </a:p>
                  </a:txBody>
                  <a:tcPr marL="91440" marR="91440" marT="45720" marB="45720"/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翅长_mm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96.20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0.2862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113.87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0.2329</a:t>
                      </a:r>
                    </a:p>
                  </a:txBody>
                  <a:tcPr marL="91440" marR="91440" marT="45720" marB="45720"/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尾长_mm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0.1992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52.84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0.1254</a:t>
                      </a:r>
                    </a:p>
                  </a:txBody>
                  <a:tcPr marL="91440" marR="91440" marT="45720" marB="45720"/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喙长_mm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16.76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0.1132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0.0618</a:t>
                      </a:r>
                    </a:p>
                  </a:txBody>
                  <a:tcPr marL="91440" marR="91440" marT="45720" marB="45720"/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喙宽_mm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0.0381</a:t>
                      </a:r>
                    </a:p>
                  </a:txBody>
                  <a:tcPr marL="91440" marR="91440" marT="45720" marB="45720"/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喙深_mm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6.79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0.1006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53D8D-41EB-4C3F-A8A1-87441639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误差单位与性状列一致。各图共享物种均值标签，回归结果不能作为照片中个体的实测值。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7304A-98E4-4F2A-BEC2-34C16AB2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150 树消融平均 R²：颜色与形状 0.1389，加入纹理 0.1603，完整特征 0.1597。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EFBAA-2032-422B-96EE-9C89B77A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8 / 10 页</a:t>
            </a:r>
          </a:p>
        </p:txBody>
      </p:sp>
    </p:spTree>
    <p:extLst>
      <p:ext uri="{BB962C8B-B14F-4D97-AF65-F5344CB8AC3E}">
        <p14:creationId xmlns:p14="http://schemas.microsoft.com/office/powerpoint/2010/main" val="7377594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946FF-8CCA-4E35-8CF7-1A5F1054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938A6-4A3D-4B9F-9C77-E414B4A2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08 · 可运行的中文桌面界面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E99F5-476B-46B4-B522-4869C71E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单图分析页显示处理过程与七项直接回归值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4D2BF-D784-4DA5-AF48-2D96C20E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该截图由项目的自动化验收入口调用真实模型与 CUB 留出样例生成。 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18e1916c84b5f"/>
          <a:stretch xmlns:a="http://schemas.openxmlformats.org/drawingml/2006/main"/>
        </p:blipFill>
        <p:spPr>
          <a:xfrm xmlns:a="http://schemas.openxmlformats.org/drawingml/2006/main">
            <a:off x="1424012" y="1771650"/>
            <a:ext cx="6505527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9568F-1B14-4B9E-9B21-4DF9C4A7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0975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7B5D3-1E0E-45AC-B366-26DCA80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数据集浏览与检索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D4C49-CF5E-421E-81ED-8C32EA2A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按鸟种、文件名或编号筛选并预览 CUB 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92796-B712-486B-BC7B-C30263B3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4800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B074F-AD39-48E3-A630-AE27AA64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956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8"/>
                </a:solidFill>
                <a:latin typeface="Microsoft YaHei"/>
                <a:ea typeface="Microsoft YaHei"/>
                <a:cs typeface="Microsoft YaHei"/>
              </a:rPr>
              <a:t>批处理与 CSV 导出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63DD6-6889-41E9-8DB2-C93678D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576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导出七个带单位的回归数值列及原分类结果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490DE-26B5-46FC-A2D5-9C2F6287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8625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902AE-586B-4A78-BC3A-93D54416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3390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物种平均性状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350E17-FD7E-41C8-B733-C1A2E04F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95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直接回归和查表结果分别显示，均不代表个体实测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235FD-0D80-4B5D-B32F-A7672056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4BE1C-7FC5-408E-95DC-D5CDD097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鸟类生态图像特征工程与轻量级量化评价系统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A3E64-4EE0-4590-AE6E-AAD6A9F5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532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5E6B76"/>
                </a:solidFill>
                <a:latin typeface="Microsoft YaHei"/>
                <a:ea typeface="Microsoft YaHei"/>
                <a:cs typeface="Microsoft YaHei"/>
              </a:rPr>
              <a:t>第 9 / 10 页</a:t>
            </a:r>
          </a:p>
        </p:txBody>
      </p:sp>
    </p:spTree>
    <p:extLst>
      <p:ext uri="{BB962C8B-B14F-4D97-AF65-F5344CB8AC3E}">
        <p14:creationId xmlns:p14="http://schemas.microsoft.com/office/powerpoint/2010/main" val="12754230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88041-48A7-4F26-BAA4-E436E470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01A05-E047-4344-8324-30AFDA81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7256A-AA8D-450A-BD3F-59344DE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 · 复现、提交与局限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936D0-D7A9-445F-BE9C-A76336C8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93B5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65BAC-C58A-4491-B654-BD111C0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424B0-721A-416C-93C0-3628D1C0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A8A"/>
                </a:solidFill>
                <a:latin typeface="Microsoft YaHei"/>
                <a:ea typeface="Microsoft YaHei"/>
                <a:cs typeface="Microsoft YaHei"/>
              </a:rPr>
              <a:t>复现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5A1CE-6718-4393-BE43-8361A71C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运行 scripts/prepare_data.py</a:t>
            </a:r>
          </a:p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运行 scripts/train_and_evaluate.py</a:t>
            </a:r>
          </a:p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运行 run_app.py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644BF-7FC9-43C2-BF03-8775C0CC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93B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1542D-7A70-4433-A0FE-3B2DFD2F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335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2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5AB795-2F76-4740-B730-130B0533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8752B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4797A-BA02-4E61-AB8C-C5AC6BE6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6700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课程报告 DOCX / PDF</a:t>
            </a:r>
          </a:p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完整源代码、模型、指标与 PPTX</a:t>
            </a:r>
          </a:p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不复制 1.15 GB 原始 CUB 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D49BB3-60B5-4B64-B608-3896B76D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238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93B5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4B34D-447F-4B4D-AB80-0508D67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335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6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E0CEF-9CEF-47B0-890F-B74E531E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6FB6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6FB6D4"/>
                </a:solidFill>
                <a:latin typeface="Microsoft YaHei"/>
                <a:ea typeface="Microsoft YaHei"/>
                <a:cs typeface="Microsoft YaHei"/>
              </a:rPr>
              <a:t>局限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00C24-7B6B-4F4C-A842-845C8B6E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复杂背景会影响前景分割</a:t>
            </a:r>
          </a:p>
          <a:p xmlns:a="http://schemas.openxmlformats.org/drawingml/2006/main">
            <a:pPr algn="l"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回归精度有限，目标为物种均值</a:t>
            </a:r>
          </a:p>
          <a:p xmlns:a="http://schemas.openxmlformats.org/drawingml/2006/main">
            <a:pPr algn="l">
              <a:buNone/>
              <a:def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官方图像测试不代表未见鸟种效果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4B22C-0C7B-4F6F-8BBD-2C3F0F2D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24450"/>
            <a:ext cx="9144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1F553-A2AF-4CE7-9EC5-10376F61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53050"/>
            <a:ext cx="842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分类、性状直接回归与查表参考值分别输出，并保留各自评价结果。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26A9D-8F30-4B16-9987-5E49F11D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D6E9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D6E9E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2B399-AA7C-4A2E-BBD9-12666E1B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286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D6E9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D6E9EF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184953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2026-09-16T14:24:35.9350000Z</dcterms:created>
  <dcterms:modified xsi:type="dcterms:W3CDTF">2026-09-16T14:24:35.9350000Z</dcterms:modified>
</coreProperties>
</file>